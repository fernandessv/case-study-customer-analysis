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9144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1585" y="2039254"/>
            <a:ext cx="5540829" cy="2206171"/>
          </a:xfrm>
        </p:spPr>
        <p:txBody>
          <a:bodyPr anchor="ctr">
            <a:normAutofit/>
          </a:bodyPr>
          <a:lstStyle/>
          <a:p>
            <a:r>
              <a:rPr lang="en-GB" sz="3800">
                <a:solidFill>
                  <a:schemeClr val="tx1">
                    <a:lumMod val="85000"/>
                    <a:lumOff val="15000"/>
                  </a:schemeClr>
                </a:solidFill>
              </a:rPr>
              <a:t>Customer Analysis – Year over Year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9471" y="5158522"/>
            <a:ext cx="4267200" cy="1087477"/>
          </a:xfrm>
        </p:spPr>
        <p:txBody>
          <a:bodyPr anchor="ctr">
            <a:normAutofit/>
          </a:bodyPr>
          <a:lstStyle/>
          <a:p>
            <a:pPr algn="l"/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April 2025</a:t>
            </a:r>
            <a:b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By: Samuel Fernandes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667538" y="0"/>
            <a:ext cx="5476462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count remained stable YOY, but average Customer Worth dropped significantly (~40%).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Boots category experienced large customer growth, but spend per customer appears abnormal.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Core and Elite segments saw major declines in engagement and value.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New and Infrequent shoppers are growing and changing overall customer </a:t>
            </a:r>
            <a:r>
              <a:rPr lang="en-GB" sz="17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behavior</a:t>
            </a: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Strategies must target recovery of high-value customers and guide new ones into value-driving departments.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t>YOY Trends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29" y="2198362"/>
            <a:ext cx="4227871" cy="391777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GB" sz="1700" dirty="0"/>
              <a:t>Total customer count: Stable YOY.</a:t>
            </a:r>
          </a:p>
          <a:p>
            <a:pPr>
              <a:defRPr sz="1800"/>
            </a:pPr>
            <a:r>
              <a:rPr lang="en-GB" sz="1700" dirty="0"/>
              <a:t>Customer Worth: Dropped ~40% – customers are spending less.</a:t>
            </a:r>
          </a:p>
          <a:p>
            <a:pPr>
              <a:defRPr sz="1800"/>
            </a:pPr>
            <a:r>
              <a:rPr lang="en-GB" sz="1700" dirty="0"/>
              <a:t>Department shifts:</a:t>
            </a:r>
          </a:p>
          <a:p>
            <a:pPr>
              <a:defRPr sz="1800"/>
            </a:pPr>
            <a:r>
              <a:rPr lang="en-GB" sz="1700" dirty="0"/>
              <a:t>  - Boots and Accessories: Major growth in customers and sales.</a:t>
            </a:r>
          </a:p>
          <a:p>
            <a:pPr>
              <a:defRPr sz="1800"/>
            </a:pPr>
            <a:r>
              <a:rPr lang="en-GB" sz="1700" dirty="0"/>
              <a:t>  - Knick Knacks: Lost over 67,000 customers and $3.2M in sales.</a:t>
            </a:r>
          </a:p>
        </p:txBody>
      </p:sp>
      <p:pic>
        <p:nvPicPr>
          <p:cNvPr id="4" name="Picture 3" descr="A graph of sales by department&#10;&#10;AI-generated content may be incorrect.">
            <a:extLst>
              <a:ext uri="{FF2B5EF4-FFF2-40B4-BE49-F238E27FC236}">
                <a16:creationId xmlns:a16="http://schemas.microsoft.com/office/drawing/2014/main" id="{83BD15F5-C1A2-0017-305D-92BD6D3A5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1" y="2061836"/>
            <a:ext cx="4572000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800"/>
              <a:t>Segment and Profile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774" y="1940439"/>
            <a:ext cx="2570251" cy="4307961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GB" sz="1600" dirty="0"/>
              <a:t>Core and Elite segments lost the most high-value customers.</a:t>
            </a:r>
          </a:p>
          <a:p>
            <a:pPr>
              <a:defRPr sz="1800"/>
            </a:pPr>
            <a:r>
              <a:rPr lang="en-GB" sz="1600" dirty="0"/>
              <a:t>New and Infrequent segments grew significantly – especially in Boots category.</a:t>
            </a:r>
          </a:p>
          <a:p>
            <a:pPr>
              <a:defRPr sz="1800"/>
            </a:pPr>
            <a:r>
              <a:rPr lang="en-GB" sz="1600" dirty="0"/>
              <a:t>Profile-wise:</a:t>
            </a:r>
          </a:p>
          <a:p>
            <a:pPr>
              <a:defRPr sz="1800"/>
            </a:pPr>
            <a:r>
              <a:rPr lang="en-GB" sz="1600" dirty="0"/>
              <a:t>  - 'Pinched Pockets' and 'Normal Families' lost most customers.</a:t>
            </a:r>
          </a:p>
          <a:p>
            <a:pPr>
              <a:defRPr sz="1800"/>
            </a:pPr>
            <a:r>
              <a:rPr lang="en-GB" sz="1600" dirty="0"/>
              <a:t>  - Almost all profiles saw similar Customer Worth decline (±0.7%)</a:t>
            </a:r>
          </a:p>
          <a:p>
            <a:pPr>
              <a:defRPr sz="1800"/>
            </a:pPr>
            <a:r>
              <a:rPr lang="en-GB" sz="1600" dirty="0"/>
              <a:t>‘Pinched Pockets’ and Normal Families had an </a:t>
            </a:r>
            <a:r>
              <a:rPr lang="en-GB" sz="1600" dirty="0" err="1"/>
              <a:t>avg</a:t>
            </a:r>
            <a:r>
              <a:rPr lang="en-GB" sz="1600" dirty="0"/>
              <a:t> loss ~3.6%.</a:t>
            </a:r>
          </a:p>
        </p:txBody>
      </p:sp>
      <p:pic>
        <p:nvPicPr>
          <p:cNvPr id="6" name="Picture 5" descr="A graph showing a number of shares&#10;&#10;AI-generated content may be incorrect.">
            <a:extLst>
              <a:ext uri="{FF2B5EF4-FFF2-40B4-BE49-F238E27FC236}">
                <a16:creationId xmlns:a16="http://schemas.microsoft.com/office/drawing/2014/main" id="{FD0E6C6F-234D-476D-F46A-50747410B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101" y="2101203"/>
            <a:ext cx="5392069" cy="2655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400"/>
              <a:t>Customer Behavior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774" y="2194102"/>
            <a:ext cx="2570251" cy="39085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800"/>
            </a:pPr>
            <a:r>
              <a:rPr lang="en-GB" sz="1700" dirty="0"/>
              <a:t>Boots and Accessories saw massive growth in new customers (~90,000 net gain).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700" dirty="0"/>
              <a:t>Spike suggests a temporary or seasonal trend – needs further validation.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700" dirty="0"/>
              <a:t>Knick Knacks exodus drove revenue drop (~$4.8M to $1.6M).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700" dirty="0"/>
              <a:t>New customers are not yet spending much on other departments.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DCB909-3225-C40B-28C8-00D4BFBA5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946" y="2137974"/>
            <a:ext cx="5190054" cy="25820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Strategic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Significant financial implication attached to losing high-value customers (Core/Elite customers).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New and Infrequent segments represent opportunity but require nurturing.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Profile stagnation suggests need for re-engagement and targeted strategies.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Profile shifts did not affect spending </a:t>
            </a:r>
            <a:r>
              <a:rPr lang="en-GB" sz="17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behavior</a:t>
            </a: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Re-engage Core and Elite customers via loyalty campaigns or win-back offers.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 onboarding and education campaigns for New/Infrequent shoppers.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Promote cross-category bundles (e.g., Knick Knacks + Boots) to increase AOV.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Monitor Boots anomaly – validate data and assess sustainability of trend.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Track shifts monthly to </a:t>
            </a:r>
            <a:r>
              <a:rPr lang="en-GB" sz="17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preempt</a:t>
            </a: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major </a:t>
            </a:r>
            <a:r>
              <a:rPr lang="en-GB" sz="17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behavioral</a:t>
            </a: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changes.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437474" cy="1188720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&amp; Caution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7"/>
            <a:ext cx="6207019" cy="3685156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Anomalies observed: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- 97 customers in Boots category with only $0.20 spend.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Large growth in customer count with relatively low revenue.</a:t>
            </a:r>
          </a:p>
          <a:p>
            <a:pPr>
              <a:defRPr sz="1800"/>
            </a:pP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Assumed data is directionally correct unless noted.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405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Customer Analysis – Year over Year Trends</vt:lpstr>
      <vt:lpstr>Executive Summary</vt:lpstr>
      <vt:lpstr>YOY Trends Overview</vt:lpstr>
      <vt:lpstr>Segment and Profile Performance</vt:lpstr>
      <vt:lpstr>Customer Behavior Shift</vt:lpstr>
      <vt:lpstr>Strategic Implications</vt:lpstr>
      <vt:lpstr>Strategic Recommendations</vt:lpstr>
      <vt:lpstr>Data &amp; Caution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Fernandes</cp:lastModifiedBy>
  <cp:revision>5</cp:revision>
  <dcterms:created xsi:type="dcterms:W3CDTF">2013-01-27T09:14:16Z</dcterms:created>
  <dcterms:modified xsi:type="dcterms:W3CDTF">2025-04-15T20:47:29Z</dcterms:modified>
  <cp:category/>
</cp:coreProperties>
</file>